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Id4"/>
  </p:sldMasterIdLst>
  <p:sldIdLst>
    <p:sldId id="256" r:id="rId1"/>
    <p:sldId id="257" r:id="rId2"/>
    <p:sldId id="258" r:id="rId3"/>
  </p:sldIdLst>
  <p:sldSz cx="12192000" cy="6858000"/>
  <p:notesSz cx="6858000" cy="9144000"/>
</p:presentation>
</file>

<file path=ppt/_rels/presentation.xml.rels><?xml version='1.0' encoding='utf-8'?>
<Relationships xmlns="http://schemas.openxmlformats.org/package/2006/relationships"><Relationship Id="rId1" Type="http://schemas.openxmlformats.org/officeDocument/2006/relationships/slide" Target="slides/slide1.xml" /><Relationship Id="rId2" Type="http://schemas.openxmlformats.org/officeDocument/2006/relationships/slide" Target="slides/slide2.xml" /><Relationship Id="rId3" Type="http://schemas.openxmlformats.org/officeDocument/2006/relationships/slide" Target="slides/slide3.xml" /><Relationship Id="rId4" Type="http://schemas.openxmlformats.org/officeDocument/2006/relationships/slideMaster" Target="slideMasters/slideMaster1.xml" /></Relationships>
</file>

<file path=ppt/slideLayouts/_rels/slideLayout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type="blank">
  <p:cSld name="Blank">
    <p:spTree/>
  </p:cSld>
</p:sldLayout>
</file>

<file path=ppt/slideMasters/_rels/slideMaster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Masters/slideMaster1.xml><?xml version="1.0" encoding="utf-8"?>
<p:sldMaster xmlns:p="http://schemas.openxmlformats.org/presentationml/2006/main" xmlns:r="http://schemas.openxmlformats.org/officeDocument/2006/relationships">
  <p:cSld>
    <p:spTree/>
  </p:cSld>
  <p:sldLayoutIdLst>
    <p:sldLayoutId id="2147483649" r:id="rId1"/>
  </p:sldLayoutIdLst>
</p:sldMaster>
</file>

<file path=ppt/slides/_rels/slide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p="http://schemas.openxmlformats.org/presentationml/2006/main">
  <p:cSld>
    <p:spTree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0" type="ctrTitle"/>
          </p:nvPr>
        </p:nvSpPr>
        <p:spPr>
          <a:xfrm>
            <a:off x="914400" y="1828800"/>
            <a:ext cx="7315200" cy="1371600"/>
          </a:xfrm>
          <a:prstGeom prst="rect">
            <a:avLst/>
          </a:prstGeom>
        </p:spPr>
        <p:txBody>
          <a:bodyPr/>
          <a:lstStyle/>
          <a:p>
            <a:r>
              <a:rPr lang="en-US" sz="3600" b="1"/>
              <a:t>Q4 2025 Strategy Review</a:t>
            </a:r>
          </a:p>
        </p:txBody>
      </p:sp>
      <p:sp>
        <p:nvSpPr>
          <p:cNvPr id="3" name="Subtitle"/>
          <p:cNvSpPr/>
          <p:nvPr>
            <p:ph idx="1" type="subTitle"/>
          </p:nvPr>
        </p:nvSpPr>
        <p:spPr>
          <a:xfrm>
            <a:off x="1371600" y="3657600"/>
            <a:ext cx="6400800" cy="731520"/>
          </a:xfrm>
          <a:prstGeom prst="rect">
            <a:avLst/>
          </a:prstGeom>
        </p:spPr>
        <p:txBody>
          <a:bodyPr/>
          <a:lstStyle/>
          <a:p>
            <a:r>
              <a:rPr lang="en-US" sz="1800"/>
              <a:t>Prepared by the Strategy Team — Confidential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0" type="title"/>
          </p:nvPr>
        </p:nvSpPr>
        <p:spPr>
          <a:xfrm>
            <a:off x="457200" y="274320"/>
            <a:ext cx="8229600" cy="731520"/>
          </a:xfrm>
          <a:prstGeom prst="rect">
            <a:avLst/>
          </a:prstGeom>
        </p:spPr>
        <p:txBody>
          <a:bodyPr/>
          <a:lstStyle/>
          <a:p>
            <a:r>
              <a:rPr lang="en-US" sz="2800" b="1"/>
              <a:t>Key Findings</a:t>
            </a:r>
          </a:p>
        </p:txBody>
      </p:sp>
      <p:sp>
        <p:nvSpPr>
          <p:cNvPr id="3" name="Content"/>
          <p:cNvSpPr/>
          <p:nvPr>
            <p:ph idx="1" type="body"/>
          </p:nvPr>
        </p:nvSpPr>
        <p:spPr>
          <a:xfrm>
            <a:off x="457200" y="1371600"/>
            <a:ext cx="8229600" cy="4114800"/>
          </a:xfrm>
          <a:prstGeom prst="rect">
            <a:avLst/>
          </a:prstGeom>
        </p:spPr>
        <p:txBody>
          <a:bodyPr/>
          <a:lstStyle/>
          <a:p>
            <a:r>
              <a:rPr lang="en-US" sz="1600"/>
              <a:t>Revenue grew 23% YoY driven by enterprise segment. Customer retention improved to 94%. Three new markets entered in APAC region.</a:t>
            </a:r>
          </a:p>
        </p:txBody>
      </p:sp>
      <p:sp>
        <p:nvSpPr>
          <p:cNvPr id="4" name="Footer"/>
          <p:cNvSpPr/>
          <p:nvPr/>
        </p:nvSpPr>
        <p:spPr>
          <a:xfrm>
            <a:off x="457200" y="5943600"/>
            <a:ext cx="3657600" cy="274320"/>
          </a:xfrm>
          <a:prstGeom prst="rect">
            <a:avLst/>
          </a:prstGeom>
        </p:spPr>
        <p:txBody>
          <a:bodyPr/>
          <a:lstStyle/>
          <a:p>
            <a:r>
              <a:rPr lang="en-US" sz="1000"/>
              <a:t>Confidential — Do Not Distribute</a:t>
            </a:r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>
  <p:cSld>
    <p:spTree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0" type="title"/>
          </p:nvPr>
        </p:nvSpPr>
        <p:spPr>
          <a:xfrm>
            <a:off x="457200" y="274320"/>
            <a:ext cx="8229600" cy="731520"/>
          </a:xfrm>
          <a:prstGeom prst="rect">
            <a:avLst/>
          </a:prstGeom>
        </p:spPr>
        <p:txBody>
          <a:bodyPr/>
          <a:lstStyle/>
          <a:p>
            <a:r>
              <a:rPr lang="en-US" sz="2800" b="1"/>
              <a:t>Next Steps &amp; Timeline</a:t>
            </a:r>
          </a:p>
        </p:txBody>
      </p:sp>
      <p:sp>
        <p:nvSpPr>
          <p:cNvPr id="3" name="Content"/>
          <p:cNvSpPr/>
          <p:nvPr>
            <p:ph idx="1" type="body"/>
          </p:nvPr>
        </p:nvSpPr>
        <p:spPr>
          <a:xfrm>
            <a:off x="457200" y="1371600"/>
            <a:ext cx="8229600" cy="4114800"/>
          </a:xfrm>
          <a:prstGeom prst="rect">
            <a:avLst/>
          </a:prstGeom>
        </p:spPr>
        <p:txBody>
          <a:bodyPr/>
          <a:lstStyle/>
          <a:p>
            <a:r>
              <a:rPr lang="en-US" sz="1600"/>
              <a:t>Phase 1 (Jan-Mar): Market analysis and partner identification. Phase 2 (Apr-Jun): Pilot launch in Singapore and Tokyo. Phase 3 (Jul-Sep): Full rollout with dedicated sales team.</a:t>
            </a:r>
          </a:p>
        </p:txBody>
      </p:sp>
    </p:spTree>
  </p:cSld>
</p:sld>
</file>